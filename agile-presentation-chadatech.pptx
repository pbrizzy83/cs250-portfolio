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977ec78851457c" /><Relationship Type="http://schemas.openxmlformats.org/officeDocument/2006/relationships/extended-properties" Target="/docProps/app.xml" Id="Rc21ef5ee35a94204" /><Relationship Type="http://schemas.openxmlformats.org/officeDocument/2006/relationships/officeDocument" Target="/ppt/presentation.xml" Id="R2a2b6b37990f4b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e420fddded46a7"/>
  </p:sldMasterIdLst>
  <p:notesMasterIdLst>
    <p:notesMasterId xmlns:r="http://schemas.openxmlformats.org/officeDocument/2006/relationships" r:id="R855deed5560c41d9"/>
  </p:notesMasterIdLst>
  <p:sldIdLst>
    <p:sldId xmlns:r="http://schemas.openxmlformats.org/officeDocument/2006/relationships" id="256" r:id="R59c725871ce04698"/>
    <p:sldId xmlns:r="http://schemas.openxmlformats.org/officeDocument/2006/relationships" id="257" r:id="Rd70f7db80f724c95"/>
    <p:sldId xmlns:r="http://schemas.openxmlformats.org/officeDocument/2006/relationships" id="258" r:id="R1e75ea8096c543d4"/>
    <p:sldId xmlns:r="http://schemas.openxmlformats.org/officeDocument/2006/relationships" id="259" r:id="R24b5a985690943fa"/>
    <p:sldId xmlns:r="http://schemas.openxmlformats.org/officeDocument/2006/relationships" id="260" r:id="Rb19b2845c47c4b36"/>
    <p:sldId xmlns:r="http://schemas.openxmlformats.org/officeDocument/2006/relationships" id="261" r:id="Rf1c02cb466214737"/>
    <p:sldId xmlns:r="http://schemas.openxmlformats.org/officeDocument/2006/relationships" id="262" r:id="Rc06f7a7436ff409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1695d8b8554686" /><Relationship Type="http://schemas.openxmlformats.org/officeDocument/2006/relationships/slideMaster" Target="/ppt/slideMasters/slideMaster1.xml" Id="R9ce420fddded46a7" /><Relationship Type="http://schemas.openxmlformats.org/officeDocument/2006/relationships/notesMaster" Target="/ppt/notesMasters/notesMaster1.xml" Id="R855deed5560c41d9" /><Relationship Type="http://schemas.openxmlformats.org/officeDocument/2006/relationships/presProps" Target="/ppt/presProps.xml" Id="R86861de51257498a" /><Relationship Type="http://schemas.openxmlformats.org/officeDocument/2006/relationships/tableStyles" Target="/ppt/tableStyles.xml" Id="Rb5613f2e61364895" /><Relationship Type="http://schemas.openxmlformats.org/officeDocument/2006/relationships/slide" Target="/ppt/slides/slide1.xml" Id="R59c725871ce04698" /><Relationship Type="http://schemas.openxmlformats.org/officeDocument/2006/relationships/slide" Target="/ppt/slides/slide2.xml" Id="Rd70f7db80f724c95" /><Relationship Type="http://schemas.openxmlformats.org/officeDocument/2006/relationships/slide" Target="/ppt/slides/slide3.xml" Id="R1e75ea8096c543d4" /><Relationship Type="http://schemas.openxmlformats.org/officeDocument/2006/relationships/slide" Target="/ppt/slides/slide4.xml" Id="R24b5a985690943fa" /><Relationship Type="http://schemas.openxmlformats.org/officeDocument/2006/relationships/slide" Target="/ppt/slides/slide5.xml" Id="Rb19b2845c47c4b36" /><Relationship Type="http://schemas.openxmlformats.org/officeDocument/2006/relationships/slide" Target="/ppt/slides/slide6.xml" Id="Rf1c02cb466214737" /><Relationship Type="http://schemas.openxmlformats.org/officeDocument/2006/relationships/slide" Target="/ppt/slides/slide7.xml" Id="Rc06f7a7436ff40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78dc56daff47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d2aeeaf5c5408b" /><Relationship Type="http://schemas.openxmlformats.org/officeDocument/2006/relationships/notesMaster" Target="/ppt/notesMasters/notesMaster1.xml" Id="Re483404e23924d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f156a3436d4d5b" /><Relationship Type="http://schemas.openxmlformats.org/officeDocument/2006/relationships/notesMaster" Target="/ppt/notesMasters/notesMaster1.xml" Id="R6ea4a858f0184c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0c59fb83344645" /><Relationship Type="http://schemas.openxmlformats.org/officeDocument/2006/relationships/notesMaster" Target="/ppt/notesMasters/notesMaster1.xml" Id="Re0f10677321c48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9bc888f3e04715" /><Relationship Type="http://schemas.openxmlformats.org/officeDocument/2006/relationships/notesMaster" Target="/ppt/notesMasters/notesMaster1.xml" Id="R1d4761cd177b45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f66e45b2fa457e" /><Relationship Type="http://schemas.openxmlformats.org/officeDocument/2006/relationships/notesMaster" Target="/ppt/notesMasters/notesMaster1.xml" Id="R23601532366144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b16dc9cda4187" /><Relationship Type="http://schemas.openxmlformats.org/officeDocument/2006/relationships/notesMaster" Target="/ppt/notesMasters/notesMaster1.xml" Id="R66b98bcacf744e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e1a9fb00c44bc7" /><Relationship Type="http://schemas.openxmlformats.org/officeDocument/2006/relationships/notesMaster" Target="/ppt/notesMasters/notesMaster1.xml" Id="R9417fcf8d41a48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6db277783b49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b4471c1a944377" /><Relationship Type="http://schemas.openxmlformats.org/officeDocument/2006/relationships/slideLayout" Target="/ppt/slideLayouts/slideLayout1.xml" Id="R01821611dca846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821611dca846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c12d0a4f14d5b" /><Relationship Type="http://schemas.openxmlformats.org/officeDocument/2006/relationships/notesSlide" Target="/ppt/notesSlides/notesSlide1.xml" Id="Rd40effdcce6b42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5f62974134365" /><Relationship Type="http://schemas.openxmlformats.org/officeDocument/2006/relationships/notesSlide" Target="/ppt/notesSlides/notesSlide2.xml" Id="R63ece635b9cb4b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a7d83c7ee45c5" /><Relationship Type="http://schemas.openxmlformats.org/officeDocument/2006/relationships/notesSlide" Target="/ppt/notesSlides/notesSlide3.xml" Id="Rdf519590c07848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e92a494fd4f46" /><Relationship Type="http://schemas.openxmlformats.org/officeDocument/2006/relationships/notesSlide" Target="/ppt/notesSlides/notesSlide4.xml" Id="R211c55f4e9184f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cb897577547ba" /><Relationship Type="http://schemas.openxmlformats.org/officeDocument/2006/relationships/notesSlide" Target="/ppt/notesSlides/notesSlide5.xml" Id="Raf7025053c784f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a4653b1354a99" /><Relationship Type="http://schemas.openxmlformats.org/officeDocument/2006/relationships/notesSlide" Target="/ppt/notesSlides/notesSlide6.xml" Id="Rb288681113d542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d1ae1a33543e8" /><Relationship Type="http://schemas.openxmlformats.org/officeDocument/2006/relationships/notesSlide" Target="/ppt/notesSlides/notesSlide7.xml" Id="R78fd7a9e2fe94b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D27FB9-7682-4778-B935-6AC5C3CB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0">
            <a:solidFill>
              <a:srgbClr val="1F2A4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2E2EC-CCE9-4671-BCA1-14877B71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C59DA-0208-40B1-95AD-4A53BB6C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CS 250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72356-8BC4-40BE-931C-9C4C1545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333500"/>
            <a:ext cx="619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F2A44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1F2A44"/>
                </a:solidFill>
                <a:latin typeface="Aptos Display"/>
                <a:ea typeface="Aptos Display"/>
                <a:cs typeface="Aptos Display"/>
              </a:rPr>
              <a:t>Scrum-Agile</a:t>
            </a:r>
          </a:p>
          <a:p xmlns:a="http://schemas.openxmlformats.org/drawingml/2006/main">
            <a:pPr>
              <a:defRPr sz="3600" b="1" i="0">
                <a:solidFill>
                  <a:srgbClr val="1F2A44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1F2A44"/>
                </a:solidFill>
                <a:latin typeface="Aptos Display"/>
                <a:ea typeface="Aptos Display"/>
                <a:cs typeface="Aptos Display"/>
              </a:rPr>
              <a:t>Development</a:t>
            </a:r>
          </a:p>
          <a:p xmlns:a="http://schemas.openxmlformats.org/drawingml/2006/main">
            <a:pPr>
              <a:defRPr sz="3600" b="1" i="0">
                <a:solidFill>
                  <a:srgbClr val="1F2A44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1F2A44"/>
                </a:solidFill>
                <a:latin typeface="Aptos Display"/>
                <a:ea typeface="Aptos Display"/>
                <a:cs typeface="Aptos Display"/>
              </a:rPr>
              <a:t>at ChadaTech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632A3-8C48-46B0-A4F7-494FB9B9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7187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SNHU Travel Project Lessons Learned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EAAB7-526C-417D-B90F-65E37E37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76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Patrick Brizuela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4CD99-A4E3-409B-B0BA-3C030F04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38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CS 250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0E661-D78E-4D20-91B4-FF2161FE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138868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7D67DF-DFC7-40D5-B4E3-ABC43BE6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CF5B4-7977-4A2A-B3CD-BE81CD15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SCRUM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21902-B248-40F6-AF7D-3A8EC7DB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F2A4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F2A44"/>
                </a:solidFill>
                <a:latin typeface="Aptos Display"/>
                <a:ea typeface="Aptos Display"/>
                <a:cs typeface="Aptos Display"/>
              </a:rPr>
              <a:t>Scrum-Agile Team Roles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BCF1B-67D3-420E-9829-258667E7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24193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DDF4F1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A570C-BDA6-4853-A790-65725BE1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01F7A-832A-4957-B9EE-3BE4EB35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Product Owner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79552-D9A7-47F8-BCDF-0F671C2F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05025"/>
            <a:ext cx="20193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Prioritizes the backlog and represents stakeholders.</a:t>
            </a:r>
          </a:p>
          <a:p xmlns:a="http://schemas.openxmlformats.org/drawingml/2006/main">
            <a:pPr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Importance: keeps the team focused on customer value.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0D5FA-873D-4057-9916-90C5D568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571625"/>
            <a:ext cx="24193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8B965-D53E-407B-8247-D7ABB065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571625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AD19D-DB5D-4544-970F-5A23477E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4307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Scrum Master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CA446-95AB-4E33-8607-734F404D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05025"/>
            <a:ext cx="20193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Facilitates Scrum events and removes obstacles.</a:t>
            </a:r>
          </a:p>
          <a:p xmlns:a="http://schemas.openxmlformats.org/drawingml/2006/main">
            <a:pPr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Importance: protects the process and improves team flow.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287DD0-A0F3-402E-8174-54CFF364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24193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0AEB82-DD6D-43EE-991F-13CBA2DB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0">
            <a:solidFill>
              <a:srgbClr val="1F2A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652AC6-5EAE-4BB6-9E1A-6EA84CF8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4307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Developers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A04AC3-4CCF-442E-8B09-6213490F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05025"/>
            <a:ext cx="20193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Build and implement product features each sprint.</a:t>
            </a:r>
          </a:p>
          <a:p xmlns:a="http://schemas.openxmlformats.org/drawingml/2006/main">
            <a:pPr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Importance: turn user stories into working software.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89251C-BA7D-4FEA-A9DA-9F9016EA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571625"/>
            <a:ext cx="24193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45801E-CFDA-469B-AC1D-B5C3768C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571625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BB9A1E-C105-4152-BB7B-701CBA28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4307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Testers / QA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5FCF05-1962-4876-9345-F448A6AF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05025"/>
            <a:ext cx="20193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Validate functionality, quality, and readiness.</a:t>
            </a:r>
          </a:p>
          <a:p xmlns:a="http://schemas.openxmlformats.org/drawingml/2006/main">
            <a:pPr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Importance: reduce defects before stakeholder review.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0F0F7C-E884-458B-8152-A7D32091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9334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983EC2-6FDF-45FF-8F25-8B077DA9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52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Importance: Collaboration and shared responsibility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3CE1DF-6A3A-4880-BC15-2D3030F1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Scrum works because roles are clear, but delivery remains a team responsibility.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7276BC-6BA0-467F-B163-9AD83D66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23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Sources: Scrum Alliance, 2024; Schwaber &amp; Sutherland, 2020.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648F5D-BEA1-4D02-8D2D-CFC5BDF4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286103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2A219E-0BAF-4F76-96B3-A8C72769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AE003-A006-46EA-9E5D-24F0EC8E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SPRINT 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3270B-3133-43B2-8B86-82D32496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F2A4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F2A44"/>
                </a:solidFill>
                <a:latin typeface="Aptos Display"/>
                <a:ea typeface="Aptos Display"/>
                <a:cs typeface="Aptos Display"/>
              </a:rPr>
              <a:t>Agile SDLC Phases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D2B0B-4827-4947-924F-5774BE67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2857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4395E-C437-413D-9B71-6D40F24C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1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03455-49F4-4AC3-9E3F-9C90B7CC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811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38E4D-E2CC-4A7D-B8E3-8F32ED96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6954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Requirements Gathering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3F628-266F-42D7-9C9F-1FDAF580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71700"/>
            <a:ext cx="2400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User stories clarify value.</a:t>
            </a:r>
          </a:p>
          <a:p xmlns:a="http://schemas.openxmlformats.org/drawingml/2006/main">
            <a:pPr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Importance: align work to customer needs.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475DD9-0BE5-4CCC-96B9-ADF6910E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2857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4DA15-391E-445A-80DC-5D66B9F0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1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5633A-E41E-4C5C-AA72-771BEE38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811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D70817-3330-48CB-98D7-77FB8D8A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954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Planning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40F9CF-8C88-4657-B872-E7FCCEB5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71700"/>
            <a:ext cx="2400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Sprint planning selects priority work.</a:t>
            </a:r>
          </a:p>
          <a:p xmlns:a="http://schemas.openxmlformats.org/drawingml/2006/main">
            <a:pPr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Importance: set scope for the sprint.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4AC47-47B9-447F-9EF4-318C3E09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2857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A70051-907D-4D9E-9E59-93DDFF45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A89D11-19CA-4319-A3EC-C8458918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811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75BD99-07D8-41CA-9127-21301A2E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954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Design and Development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6E8A85-E397-41E9-BE71-2797A304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2400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team builds incrementally.</a:t>
            </a:r>
          </a:p>
          <a:p xmlns:a="http://schemas.openxmlformats.org/drawingml/2006/main">
            <a:pPr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Importance: deliver usable features sooner.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171C7A-8770-478B-8D3E-0AD32716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857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2BB9D6-9E8E-4BEC-8CFD-6BBF96E1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EF3F59-DB59-4717-82B5-47786C92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C65799-F8B6-4698-833E-A7FCD9B6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052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Testing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3A6045-D9D3-41F7-A6FB-4F8B0D81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0"/>
            <a:ext cx="2400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Quality checks run throughout.</a:t>
            </a:r>
          </a:p>
          <a:p xmlns:a="http://schemas.openxmlformats.org/drawingml/2006/main">
            <a:pPr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Importance: find defects early.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0A0EE5-8F1E-4F40-A3FC-0774719B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14750"/>
            <a:ext cx="2857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8B9A9F-9711-49CC-9B90-C4059EEB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24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BDE10A-BB03-4F22-90E7-4666CED7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909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12AFA7-6097-49C7-A30A-1B66788A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052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Review and Deployment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0AFA90-E5DA-438B-84E6-A49E9616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81500"/>
            <a:ext cx="2400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increment is reviewed for release.</a:t>
            </a:r>
          </a:p>
          <a:p xmlns:a="http://schemas.openxmlformats.org/drawingml/2006/main">
            <a:pPr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Importance: gather stakeholder feedback.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6804E7-CCEE-4E53-824C-2377BF64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14750"/>
            <a:ext cx="2857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F0A9B3-3278-4542-976F-024CC466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24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B85992-FF03-44C2-B7CE-3D4EE6EF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909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DD57DB-FA18-45FB-86B3-ECCAE900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052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Continuous Improvement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0EA7A3-33CA-4C60-A5B2-46268240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81500"/>
            <a:ext cx="2400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Retrospectives improve the next sprint.</a:t>
            </a:r>
          </a:p>
          <a:p xmlns:a="http://schemas.openxmlformats.org/drawingml/2006/main">
            <a:pPr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Importance: adapt team practices.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1E0334-F261-4159-BB3E-36B867B0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578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Each sprint repeats these phases, turning feedback into the next backlog priorities.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1B4BE9-4500-4CA2-9DA7-A60A76F4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23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Sources: Agile Alliance, 2024; Schwaber &amp; Sutherland, 2020.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D5F1ED-4A9A-4535-8597-693A3F15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456407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9DE238-A13F-4E90-BF56-EE3CBD91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E1B37-BCFA-4368-BBB2-0E33AAE3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METHOD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25147-A0CD-4A7B-A085-18D342B4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F2A4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F2A44"/>
                </a:solidFill>
                <a:latin typeface="Aptos Display"/>
                <a:ea typeface="Aptos Display"/>
                <a:cs typeface="Aptos Display"/>
              </a:rPr>
              <a:t>Waterfall vs. Agile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4A033-6992-4C99-9D0A-C5E1ACCC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57300"/>
            <a:ext cx="514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8D2B0-BF3C-42F3-92E5-C2B6107B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017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Waterfall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F78F1-4962-4F97-BD60-780F7F7E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257300"/>
            <a:ext cx="514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9A5CA-2A98-4E07-BF9A-E1114FC3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0017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Agile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9969B-B743-477F-9E34-6D5641A0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514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812DE-DC8E-4126-81B4-FBABA9FA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526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Sequential phases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A94AE-E867-4BA5-B042-18C55483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90700"/>
            <a:ext cx="514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02004B-5B9B-4A57-A02A-12B6C10C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526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Iterative development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139A2A-0B22-4EE3-BC37-2B85488F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514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823949-D176-45E5-9C08-CD7EB398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860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Changes difficult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E89A0-C98F-48E1-BC14-3ECCFCB7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24100"/>
            <a:ext cx="514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C5995B-8376-48E9-A722-3B2A3327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860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Changes expected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EB45D7-FB2B-4FE5-B661-1C13A92D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514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BC0F54-6629-43CE-A1B5-F4653312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194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Testing late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04B232-FC04-4394-A633-92000613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514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9A6FB0-C4A0-461B-AC58-B564361D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194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Testing throughout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DE7F0F-41DB-4688-846F-93CA2EC4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514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13D578-1C4E-4671-9CA3-303C6295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52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Customer feedback limited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1ECDA9-D1C2-4A98-AC00-BB40602B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90900"/>
            <a:ext cx="514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E8FFAB-6ABC-44D1-9912-702CE4F8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52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Continuous feedback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3FBD56-7049-42AD-8E8F-BF5C3D2E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514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F075FA-9674-45F3-B1D0-9F7727F7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862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Higher risk of rework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55C29C-CA46-43F1-A545-5F7D5A0C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924300"/>
            <a:ext cx="514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01ACAA-3F3F-475C-B12F-10DAB8E7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862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Faster adaptation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871080-96BA-40DE-8CDC-422E8115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91100"/>
            <a:ext cx="10096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F6D36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D4A1AB-C380-4F53-8C29-956CC319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00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Waterfall difference: the SNHU Travel user story clarification would likely have become a formal change request after requirements sign-off. In Agile, the team could clarify the story, reprioritize the backlog, and adjust in the next sprint.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7C8BFB-6BB1-4C7F-B01D-C9B7E8CB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23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Sources: Agile Alliance, 2024; Project Management Institute, 2021.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5A47B6-90E8-4A2C-B351-AA394AAF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136767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A894AA-C078-4E65-95F2-5A391E64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07AE3-6702-42D9-B441-25D7C89E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DELIVERY 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6F6C5-1834-40E9-A0D2-D9259C22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F2A4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F2A44"/>
                </a:solidFill>
                <a:latin typeface="Aptos Display"/>
                <a:ea typeface="Aptos Display"/>
                <a:cs typeface="Aptos Display"/>
              </a:rPr>
              <a:t>Choosing Waterfall or Agile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621DC-49E5-4E88-84E0-48B0AD06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481012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BF641-D519-4066-85C9-47CFD7A0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0">
            <a:solidFill>
              <a:srgbClr val="1F2A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6C037-F2BC-4949-A3DF-49710C8C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4410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Use Waterfall when...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40F97-8D39-4697-BAE7-76CEC6E8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62150"/>
            <a:ext cx="44100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- Requirements are stable and well-defined.</a:t>
            </a:r>
          </a:p>
          <a:p xmlns:a="http://schemas.openxmlformats.org/drawingml/2006/main">
            <a:pPr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- Scope is unlikely to change.</a:t>
            </a:r>
          </a:p>
          <a:p xmlns:a="http://schemas.openxmlformats.org/drawingml/2006/main">
            <a:pPr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- Compliance, budget, or approvals require a fixed plan.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1B74C-67E8-4E31-8E69-1EB9FAE3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28750"/>
            <a:ext cx="481012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DF4F1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30037-9E82-402A-95A9-CF610358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287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83133-122A-48B6-A840-4872BCF7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00200"/>
            <a:ext cx="4410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Use Agile when...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82F89-8023-4135-8C97-35633322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62150"/>
            <a:ext cx="44100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- Requirements may change.</a:t>
            </a:r>
          </a:p>
          <a:p xmlns:a="http://schemas.openxmlformats.org/drawingml/2006/main">
            <a:pPr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- Collaboration and customer feedback are important.</a:t>
            </a:r>
          </a:p>
          <a:p xmlns:a="http://schemas.openxmlformats.org/drawingml/2006/main">
            <a:pPr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- Teams need fast adaptation, frequent review, and working increments.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9D5E2-ADAD-4E7F-A698-015354D9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67200"/>
            <a:ext cx="94869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7C268-2A7A-405C-939A-5031239B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148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Decision factors from the course project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607D99-35E3-49EB-84FF-8C24EF1C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149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Leadership should consider requirement stability, stakeholder availability, risk of rework, need for early testing, and speed of feedback. SNHU Travel benefited from Agile because requirements evolved during development.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DB7E50-35B1-473A-AAB1-DA8C0BF0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23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Sources: Agile Alliance, 2024; Project Management Institute, 2021.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BBF46-EBCD-409A-8C8F-FD4C1D56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249841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67482A-E4E0-4B72-B4FA-D0D2E18A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6E8AE-073E-427D-9BA9-31135793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LESSONS LEARNED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18983-F3BC-4E20-A53C-ADC1BBD8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F2A4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F2A44"/>
                </a:solidFill>
                <a:latin typeface="Aptos Display"/>
                <a:ea typeface="Aptos Display"/>
                <a:cs typeface="Aptos Display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E8B00-93E9-4BCD-BE1A-7269F68B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85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D22F9-D74E-4DD0-864D-73DBFF7E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430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41BEA-9528-4037-AB9D-51114B5E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4478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Scrum improved communication across the ChadaTech project team.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DB8E9-F547-49B7-A5C6-E3E21728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C88A1-19FB-48B6-924E-1DC961BC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241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F420E-936A-49DE-9C9A-3C7925F1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288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User stories guided development by keeping work tied to customer value.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0634A-A398-4233-8603-05504A1E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2C896F-6CD2-45EF-982A-5DB61EDC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83BDA3-0EFE-465E-8DE8-EF7F7797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099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Sprint events promoted transparency through planning, review, and retrospectives.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E864DB-EBD6-446B-BD4C-B8776E59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878718-293D-49FB-AA3B-CA3D85A6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862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EA1A8C-D7B3-45AF-ADE1-17826755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909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Agile supported adaptation when SNHU Travel requirements changed.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C49504-720A-49D3-90F4-9D005E93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0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B3397D-9C6D-4A2C-B2BB-2C8B72B6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672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8BF875-BCEC-42E4-81E5-19BF0C29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720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Recommendation: ChadaTech should expand Scrum adoption for projects with evolving needs.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99CC7F-5488-4216-8F57-BEDED8E9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23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Sources: Scrum Alliance, 2024; Schwaber &amp; Sutherland, 2020; Agile Alliance, 2024.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7B14C0-A254-4294-9116-E48C6496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401851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4E259E-1A5E-4E04-91CB-1AFBBC11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DC3AEB-1204-4FBC-AC32-8F637FBB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APA STYLE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DC048-AFC0-401C-96CE-4BB82B58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F2A4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F2A44"/>
                </a:solidFill>
                <a:latin typeface="Aptos Display"/>
                <a:ea typeface="Aptos Display"/>
                <a:cs typeface="Aptos Display"/>
              </a:rPr>
              <a:t>References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43A32-197F-4394-9FC4-F9C2E4B4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52550"/>
            <a:ext cx="1043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AEDFA-038B-46B4-A9FC-C8CE013C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1447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Agile Alliance. (2024). Agile 101. https://www.agilealliance.org/agile101/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E23B1-3B5E-46A2-BB62-F7768022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1043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57674-83D1-4431-86BB-BBA8E326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1460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Project Management Institute. (2021). A guide to the project management body of knowledge (PMBOK guide) (7th ed.). Project Management Institute.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D2DA4-3C03-4C8F-B320-97F64AF9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1043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4420D-9599-43E6-91DA-41B19303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1472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Schwaber, K., &amp; Sutherland, J. (2020). The Scrum Guide: The definitive guide to Scrum: The rules of the game. Scrum.org. https://scrumguides.org/scrum-guide.html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FB364-5846-406A-BA83-F04F2FFE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043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0F3B93-24D0-424F-8042-3488DE70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F2A4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F2A44"/>
                </a:solidFill>
                <a:latin typeface="Aptos"/>
                <a:ea typeface="Aptos"/>
                <a:cs typeface="Aptos"/>
              </a:rPr>
              <a:t>Scrum Alliance. (2024). What is Scrum? https://resources.scrumalliance.org/Article/what-is-scrum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88997-D189-4A77-B23B-4535CE3D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23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Prepared for CS 250.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43582-E995-433B-AE18-F1B1D41D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335821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2026-06-18T21:58:15.5480000Z</dcterms:created>
  <dcterms:modified xsi:type="dcterms:W3CDTF">2026-06-18T21:58:15.5480000Z</dcterms:modified>
</coreProperties>
</file>